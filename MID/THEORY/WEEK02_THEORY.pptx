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17" r:id="rId2"/>
    <p:sldId id="277" r:id="rId3"/>
    <p:sldId id="258" r:id="rId4"/>
    <p:sldId id="302" r:id="rId5"/>
    <p:sldId id="316" r:id="rId6"/>
    <p:sldId id="267" r:id="rId7"/>
    <p:sldId id="268" r:id="rId8"/>
    <p:sldId id="318" r:id="rId9"/>
    <p:sldId id="319" r:id="rId10"/>
    <p:sldId id="310" r:id="rId11"/>
    <p:sldId id="293" r:id="rId12"/>
    <p:sldId id="295" r:id="rId13"/>
    <p:sldId id="296" r:id="rId14"/>
    <p:sldId id="297" r:id="rId15"/>
    <p:sldId id="29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53B655-FC82-EDE5-8200-F829D2D1FF1C}" v="2" dt="2026-06-27T05:24:34.5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5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customXml" Target="../customXml/item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HIM IBNE HABIB" userId="S::23-54382-3@student.aiub.edu::10a66b89-07cb-41c6-8917-c8a7044fb704" providerId="AD" clId="Web-{8B53B655-FC82-EDE5-8200-F829D2D1FF1C}"/>
    <pc:docChg chg="sldOrd">
      <pc:chgData name="FAHIM IBNE HABIB" userId="S::23-54382-3@student.aiub.edu::10a66b89-07cb-41c6-8917-c8a7044fb704" providerId="AD" clId="Web-{8B53B655-FC82-EDE5-8200-F829D2D1FF1C}" dt="2026-06-27T05:24:34.534" v="1"/>
      <pc:docMkLst>
        <pc:docMk/>
      </pc:docMkLst>
      <pc:sldChg chg="ord">
        <pc:chgData name="FAHIM IBNE HABIB" userId="S::23-54382-3@student.aiub.edu::10a66b89-07cb-41c6-8917-c8a7044fb704" providerId="AD" clId="Web-{8B53B655-FC82-EDE5-8200-F829D2D1FF1C}" dt="2026-06-27T05:24:34.534" v="1"/>
        <pc:sldMkLst>
          <pc:docMk/>
          <pc:sldMk cId="1116609114" sldId="29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1788" y="449005"/>
            <a:ext cx="10411968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4940" y="1532427"/>
            <a:ext cx="10338816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378885" y="6227064"/>
            <a:ext cx="11432116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18128" y="459900"/>
            <a:ext cx="1892872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1452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0302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378885" y="444729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2017059"/>
            <a:ext cx="11432116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9894" y="1532965"/>
            <a:ext cx="10339045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378885" y="1906543"/>
            <a:ext cx="11435164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10974519" y="444729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8178" y="444729"/>
            <a:ext cx="10414623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8062647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024" y="4814125"/>
            <a:ext cx="103632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3984" y="5861304"/>
            <a:ext cx="10314432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8418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8883" y="443755"/>
            <a:ext cx="11432116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10974519" y="4801576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741" y="4814048"/>
            <a:ext cx="103632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530" y="5862918"/>
            <a:ext cx="10309412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1777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9" name="Group 8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37883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917" y="2151063"/>
            <a:ext cx="524256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11752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11" name="Group 10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7883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7883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2660" y="1735138"/>
            <a:ext cx="524256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2660" y="2590800"/>
            <a:ext cx="524256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85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7" name="Group 6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61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378885" y="452719"/>
            <a:ext cx="982028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9166" y="55844"/>
            <a:ext cx="1705548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542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8588" y="1298762"/>
            <a:ext cx="542544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78089" y="914401"/>
            <a:ext cx="542544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8588" y="2456329"/>
            <a:ext cx="542544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378885" y="452719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2098819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78885" y="4801576"/>
            <a:ext cx="11432116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800600"/>
            <a:ext cx="11146989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199"/>
            <a:ext cx="11436096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67338"/>
            <a:ext cx="11072284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5576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378885" y="4280648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4095" y="4778189"/>
            <a:ext cx="11146989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78884" y="457200"/>
            <a:ext cx="11436096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799" y="5344927"/>
            <a:ext cx="11072284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1135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76801" y="914401"/>
            <a:ext cx="6926729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78884" y="4267201"/>
            <a:ext cx="36576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58802" y="4953001"/>
            <a:ext cx="3296023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7686" y="4419600"/>
            <a:ext cx="3300527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378885" y="594360"/>
            <a:ext cx="36576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378885" y="461683"/>
            <a:ext cx="11435164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5018101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028018" y="4801576"/>
            <a:ext cx="7782983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378885" y="6263390"/>
            <a:ext cx="11435164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42215" y="4800600"/>
            <a:ext cx="7588868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028019" y="457199"/>
            <a:ext cx="7778496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93074" y="5367338"/>
            <a:ext cx="7538009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378886" y="457200"/>
            <a:ext cx="3649133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378886" y="3364992"/>
            <a:ext cx="3649133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602146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78885" y="455774"/>
            <a:ext cx="11432116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grpSp>
        <p:nvGrpSpPr>
          <p:cNvPr id="8" name="Group 7"/>
          <p:cNvGrpSpPr/>
          <p:nvPr/>
        </p:nvGrpSpPr>
        <p:grpSpPr>
          <a:xfrm>
            <a:off x="378885" y="1577848"/>
            <a:ext cx="11435164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2133600"/>
            <a:ext cx="11432116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71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8074279" y="2668544"/>
            <a:ext cx="5934615" cy="1511932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0165" y="473076"/>
            <a:ext cx="1292352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885" y="457200"/>
            <a:ext cx="8663516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7200708" y="3332822"/>
            <a:ext cx="5934456" cy="183215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1800"/>
            </a:p>
          </p:txBody>
        </p:sp>
      </p:grpSp>
    </p:spTree>
    <p:extLst>
      <p:ext uri="{BB962C8B-B14F-4D97-AF65-F5344CB8AC3E}">
        <p14:creationId xmlns:p14="http://schemas.microsoft.com/office/powerpoint/2010/main" val="3579465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375338" y="2133601"/>
            <a:ext cx="9435663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059915" y="643703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6/26/2026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6264" y="6437033"/>
            <a:ext cx="8166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75279" y="167347"/>
            <a:ext cx="840828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8885" y="630382"/>
            <a:ext cx="11432116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72040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tags/default.asp" TargetMode="External"/><Relationship Id="rId2" Type="http://schemas.openxmlformats.org/officeDocument/2006/relationships/hyperlink" Target="https://www.w3schools.com/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tags/ref_attributes.asp" TargetMode="Externa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0206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 altLang="en-US" b="1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600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8476699"/>
              </p:ext>
            </p:extLst>
          </p:nvPr>
        </p:nvGraphicFramePr>
        <p:xfrm>
          <a:off x="2000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 err="1"/>
                        <a:t>Sazzad</a:t>
                      </a:r>
                      <a:r>
                        <a:rPr lang="en-US" i="1" dirty="0"/>
                        <a:t> Hossain (sazzad@aiub.edu)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x-none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4844579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prstClr val="white">
                  <a:lumMod val="65000"/>
                </a:prstClr>
              </a:buClr>
            </a:pPr>
            <a:r>
              <a:rPr lang="en-US" dirty="0">
                <a:solidFill>
                  <a:prstClr val="white"/>
                </a:solidFill>
                <a:latin typeface="Calibri"/>
              </a:rPr>
              <a:t>Course Title: </a:t>
            </a:r>
            <a:r>
              <a:rPr lang="en-US" altLang="en-US" dirty="0">
                <a:solidFill>
                  <a:prstClr val="white"/>
                </a:solidFill>
                <a:latin typeface="Calibri"/>
              </a:rPr>
              <a:t>WEB TECHNOLOGIES</a:t>
            </a:r>
            <a:endParaRPr lang="en-US" dirty="0">
              <a:solidFill>
                <a:prstClr val="white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What is HTML?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561788" y="2049390"/>
            <a:ext cx="981882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stands for Hyper Text Markup Language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describes the structure 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of a Web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consists of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a series of elements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tell the browser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how to display the content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elements are represented by tags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tags label pieces of content such as ”heading”,</a:t>
            </a:r>
            <a:br>
              <a:rPr lang="en-US" sz="2400" dirty="0">
                <a:solidFill>
                  <a:prstClr val="black"/>
                </a:solidFill>
                <a:latin typeface="Calibri"/>
              </a:rPr>
            </a:br>
            <a:r>
              <a:rPr lang="en-US" sz="2400" dirty="0">
                <a:solidFill>
                  <a:prstClr val="black"/>
                </a:solidFill>
                <a:latin typeface="Calibri"/>
              </a:rPr>
              <a:t>”paragraph”, ”table”, and so on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Browsers do not display the HTML tags, but use them to render the content of the page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first version of HTML was written by Tim Berners-Lee in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1993</a:t>
            </a:r>
          </a:p>
        </p:txBody>
      </p:sp>
    </p:spTree>
    <p:extLst>
      <p:ext uri="{BB962C8B-B14F-4D97-AF65-F5344CB8AC3E}">
        <p14:creationId xmlns:p14="http://schemas.microsoft.com/office/powerpoint/2010/main" val="3734890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08164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Bef>
                <a:spcPct val="0"/>
              </a:spcBef>
              <a:spcAft>
                <a:spcPts val="600"/>
              </a:spcAft>
              <a:buClr>
                <a:prstClr val="white">
                  <a:lumMod val="65000"/>
                </a:prstClr>
              </a:buClr>
              <a:buNone/>
            </a:pPr>
            <a:r>
              <a:rPr lang="en-US" sz="4200">
                <a:solidFill>
                  <a:prstClr val="white"/>
                </a:solidFill>
                <a:latin typeface="Corbel"/>
              </a:rPr>
              <a:t>HTML Tags and Example</a:t>
            </a:r>
            <a:endParaRPr lang="en-US" sz="4200" b="1">
              <a:solidFill>
                <a:prstClr val="white"/>
              </a:solidFill>
              <a:latin typeface="Corbe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927412" y="2151063"/>
            <a:ext cx="3931920" cy="3975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tags are element names surrounded by angle brackets: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r>
              <a:rPr lang="en-US" sz="220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&lt;tagname&gt;content goes here...&lt;/tagname&gt;</a:t>
            </a: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  <a:p>
            <a:pPr marL="454025" indent="-454025">
              <a:spcBef>
                <a:spcPts val="2000"/>
              </a:spcBef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Char char=""/>
            </a:pPr>
            <a:endParaRPr lang="en-US" sz="2200">
              <a:solidFill>
                <a:prstClr val="black">
                  <a:lumMod val="85000"/>
                  <a:lumOff val="15000"/>
                </a:prstClr>
              </a:solidFill>
              <a:latin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810886D-C5AD-DBB1-B438-7D1E614811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4990" y="1853106"/>
            <a:ext cx="5008263" cy="39061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237621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sz="2800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HTML Documents = Web Pages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859495" y="1795817"/>
            <a:ext cx="8445464" cy="36994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describe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web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contain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HTML</a:t>
            </a:r>
            <a:r>
              <a:rPr lang="en-US" altLang="en-US" sz="2400" b="1" kern="0" dirty="0">
                <a:solidFill>
                  <a:srgbClr val="183883"/>
                </a:solidFill>
                <a:latin typeface="Arial"/>
              </a:rPr>
              <a:t>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tags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and plain text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HTML documents are also </a:t>
            </a:r>
            <a:r>
              <a:rPr lang="en-US" altLang="en-US" sz="2400" b="1" u="sng" kern="0" dirty="0">
                <a:solidFill>
                  <a:srgbClr val="183883"/>
                </a:solidFill>
                <a:latin typeface="Arial"/>
              </a:rPr>
              <a:t>called web pages</a:t>
            </a:r>
            <a:endParaRPr lang="en-US" altLang="en-US" sz="2400" u="sng" kern="0" dirty="0">
              <a:solidFill>
                <a:srgbClr val="183883"/>
              </a:solidFill>
              <a:latin typeface="Arial"/>
            </a:endParaRP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e.g.</a:t>
            </a:r>
          </a:p>
          <a:p>
            <a:pPr marL="742950" lvl="1" indent="-28575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–"/>
            </a:pP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&lt;html&gt;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&lt;h1&gt;My First Heading&lt;/h1&gt;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	&lt;p&gt;My first paragraph.&lt;/p&gt;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	&lt;/body&gt;</a:t>
            </a:r>
            <a:br>
              <a:rPr lang="en-US" altLang="en-US" sz="2000" kern="0" dirty="0">
                <a:solidFill>
                  <a:srgbClr val="183883"/>
                </a:solidFill>
                <a:latin typeface="Arial"/>
              </a:rPr>
            </a:br>
            <a:r>
              <a:rPr lang="en-US" altLang="en-US" sz="2000" kern="0" dirty="0">
                <a:solidFill>
                  <a:srgbClr val="183883"/>
                </a:solidFill>
                <a:latin typeface="Arial"/>
              </a:rPr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16063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6228BC-B5EB-EF85-AA4D-8330C8D903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73B90E41-B21E-4EE3-060D-CF0DF7CF2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8164" y="630382"/>
            <a:ext cx="8574087" cy="967840"/>
          </a:xfrm>
        </p:spPr>
        <p:txBody>
          <a:bodyPr/>
          <a:lstStyle/>
          <a:p>
            <a:r>
              <a:rPr lang="en-US" dirty="0"/>
              <a:t>HTML Version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F43462D-A81B-D7AA-72C2-02CEF35258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2360559"/>
              </p:ext>
            </p:extLst>
          </p:nvPr>
        </p:nvGraphicFramePr>
        <p:xfrm>
          <a:off x="1808162" y="1598222"/>
          <a:ext cx="8712354" cy="519742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05235">
                  <a:extLst>
                    <a:ext uri="{9D8B030D-6E8A-4147-A177-3AD203B41FA5}">
                      <a16:colId xmlns:a16="http://schemas.microsoft.com/office/drawing/2014/main" val="4143853675"/>
                    </a:ext>
                  </a:extLst>
                </a:gridCol>
                <a:gridCol w="601385">
                  <a:extLst>
                    <a:ext uri="{9D8B030D-6E8A-4147-A177-3AD203B41FA5}">
                      <a16:colId xmlns:a16="http://schemas.microsoft.com/office/drawing/2014/main" val="1298420453"/>
                    </a:ext>
                  </a:extLst>
                </a:gridCol>
                <a:gridCol w="706626">
                  <a:extLst>
                    <a:ext uri="{9D8B030D-6E8A-4147-A177-3AD203B41FA5}">
                      <a16:colId xmlns:a16="http://schemas.microsoft.com/office/drawing/2014/main" val="979476174"/>
                    </a:ext>
                  </a:extLst>
                </a:gridCol>
                <a:gridCol w="661523">
                  <a:extLst>
                    <a:ext uri="{9D8B030D-6E8A-4147-A177-3AD203B41FA5}">
                      <a16:colId xmlns:a16="http://schemas.microsoft.com/office/drawing/2014/main" val="1761313274"/>
                    </a:ext>
                  </a:extLst>
                </a:gridCol>
                <a:gridCol w="5737585">
                  <a:extLst>
                    <a:ext uri="{9D8B030D-6E8A-4147-A177-3AD203B41FA5}">
                      <a16:colId xmlns:a16="http://schemas.microsoft.com/office/drawing/2014/main" val="1570501700"/>
                    </a:ext>
                  </a:extLst>
                </a:gridCol>
              </a:tblGrid>
              <a:tr h="268906">
                <a:tc>
                  <a:txBody>
                    <a:bodyPr/>
                    <a:lstStyle/>
                    <a:p>
                      <a:r>
                        <a:rPr lang="en-US" sz="1800" b="1" dirty="0"/>
                        <a:t>Type of content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HTML 1.2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 4.01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HTML5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Purpose</a:t>
                      </a:r>
                    </a:p>
                  </a:txBody>
                  <a:tcPr marL="19974" marR="19974" marT="9987" marB="9987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5259079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Heading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page content by adding headings and subheadings to the top of each section of the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38404159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Paragraph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paragraphs of text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3608425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Address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Identify a block of text that contains contact information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08179719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Anchor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Link to other web content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696347715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List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items into a list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218228897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Image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Embed a photograph or drawing into a web page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24549188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Table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Organize data into rows and columns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58441221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Style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CSS to control how objects on a web page are presented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696354100"/>
                  </a:ext>
                </a:extLst>
              </a:tr>
              <a:tr h="466997">
                <a:tc>
                  <a:txBody>
                    <a:bodyPr/>
                    <a:lstStyle/>
                    <a:p>
                      <a:r>
                        <a:rPr lang="en-US" sz="1800"/>
                        <a:t>Script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Javascript to make pages respond to user behaviors (more interactive)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1777827422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Audio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Add audio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816021753"/>
                  </a:ext>
                </a:extLst>
              </a:tr>
              <a:tr h="268906">
                <a:tc>
                  <a:txBody>
                    <a:bodyPr/>
                    <a:lstStyle/>
                    <a:p>
                      <a:r>
                        <a:rPr lang="en-US" sz="1800"/>
                        <a:t>Video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video to a web page with a single tag</a:t>
                      </a:r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2658317924"/>
                  </a:ext>
                </a:extLst>
              </a:tr>
              <a:tr h="665089">
                <a:tc>
                  <a:txBody>
                    <a:bodyPr/>
                    <a:lstStyle/>
                    <a:p>
                      <a:r>
                        <a:rPr lang="en-US" sz="1800"/>
                        <a:t>Canvas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solidFill>
                            <a:srgbClr val="FF0000"/>
                          </a:solidFill>
                        </a:rPr>
                        <a:t>No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Yes</a:t>
                      </a:r>
                    </a:p>
                  </a:txBody>
                  <a:tcPr marL="19974" marR="19974" marT="9987" marB="9987" anchor="ctr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Add an invisible drawing pad to a web page, on which you can add drawings (animations, games, and other interactive features) using </a:t>
                      </a:r>
                      <a:r>
                        <a:rPr lang="en-US" sz="1800" dirty="0" err="1"/>
                        <a:t>Javascript</a:t>
                      </a:r>
                      <a:endParaRPr lang="en-US" sz="1800" dirty="0"/>
                    </a:p>
                  </a:txBody>
                  <a:tcPr marL="19974" marR="19974" marT="9987" marB="9987" anchor="ctr"/>
                </a:tc>
                <a:extLst>
                  <a:ext uri="{0D108BD9-81ED-4DB2-BD59-A6C34878D82A}">
                    <a16:rowId xmlns:a16="http://schemas.microsoft.com/office/drawing/2014/main" val="37719154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07787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Tags and Elements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2307773" y="2435898"/>
            <a:ext cx="7916091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800" dirty="0"/>
              <a:t>An HTML element usually consists of a </a:t>
            </a:r>
            <a:r>
              <a:rPr lang="en-US" sz="2800" b="1" dirty="0"/>
              <a:t>start</a:t>
            </a:r>
            <a:r>
              <a:rPr lang="en-US" sz="2800" dirty="0"/>
              <a:t> tag and an </a:t>
            </a:r>
            <a:r>
              <a:rPr lang="en-US" sz="2800" b="1" dirty="0"/>
              <a:t>end</a:t>
            </a:r>
            <a:r>
              <a:rPr lang="en-US" sz="2800" dirty="0"/>
              <a:t> tag, with the content inserted in between.</a:t>
            </a:r>
            <a:endParaRPr lang="en-US" altLang="en-US" dirty="0"/>
          </a:p>
          <a:p>
            <a:r>
              <a:rPr lang="en-US" dirty="0"/>
              <a:t>Please explore all Elements from </a:t>
            </a:r>
            <a:r>
              <a:rPr lang="en-US" dirty="0">
                <a:hlinkClick r:id="rId2"/>
              </a:rPr>
              <a:t>https://www.w3schools.com/</a:t>
            </a:r>
            <a:r>
              <a:rPr lang="en-US" dirty="0"/>
              <a:t> one by one.</a:t>
            </a:r>
            <a:endParaRPr lang="x-none" dirty="0"/>
          </a:p>
          <a:p>
            <a:r>
              <a:rPr lang="en-US" dirty="0">
                <a:hlinkClick r:id="rId3"/>
              </a:rPr>
              <a:t>https://www.w3schools.com/tags/default.asp</a:t>
            </a:r>
            <a:endParaRPr lang="en-US" dirty="0"/>
          </a:p>
          <a:p>
            <a:endParaRPr lang="x-non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6208831"/>
              </p:ext>
            </p:extLst>
          </p:nvPr>
        </p:nvGraphicFramePr>
        <p:xfrm>
          <a:off x="2557462" y="4623035"/>
          <a:ext cx="7077075" cy="1449384"/>
        </p:xfrm>
        <a:graphic>
          <a:graphicData uri="http://schemas.openxmlformats.org/drawingml/2006/table">
            <a:tbl>
              <a:tblPr/>
              <a:tblGrid>
                <a:gridCol w="2359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59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Start tag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Element content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End tag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&lt;h1&gt;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Heading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&lt;/h1&gt;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&lt;p&gt;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My first paragraph.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&lt;/p&gt;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2346"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&lt;br&gt;</a:t>
                      </a:r>
                    </a:p>
                  </a:txBody>
                  <a:tcPr marL="129409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500" dirty="0">
                          <a:effectLst/>
                        </a:rPr>
                        <a:t> </a:t>
                      </a:r>
                    </a:p>
                  </a:txBody>
                  <a:tcPr marL="64705" marR="64705" marT="64705" marB="64705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72040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 Attributes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7C26D19-85DA-834B-9600-C9820C508897}"/>
              </a:ext>
            </a:extLst>
          </p:cNvPr>
          <p:cNvSpPr txBox="1"/>
          <p:nvPr/>
        </p:nvSpPr>
        <p:spPr>
          <a:xfrm>
            <a:off x="1592317" y="2270234"/>
            <a:ext cx="863154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All HTML elements can have attributes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provide additional information about an element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are always specified in the start tag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Attributes usually come in name/value pairs like: name="value“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Example : HTML links are defined with the &lt;a&gt; tag. The link address is specified in the </a:t>
            </a:r>
            <a:r>
              <a:rPr lang="en-US" sz="2000" dirty="0" err="1"/>
              <a:t>href</a:t>
            </a:r>
            <a:r>
              <a:rPr lang="en-US" sz="2000" dirty="0"/>
              <a:t> attribute.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a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href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="https://www.aiub.edu"&gt;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AIUB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>
                <a:solidFill>
                  <a:srgbClr val="A52A2A"/>
                </a:solidFill>
                <a:latin typeface="Consolas"/>
              </a:rPr>
              <a:t>/a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&gt;</a:t>
            </a:r>
          </a:p>
          <a:p>
            <a:r>
              <a:rPr lang="en-US" sz="2000" dirty="0">
                <a:solidFill>
                  <a:srgbClr val="0000CD"/>
                </a:solidFill>
                <a:latin typeface="Consolas"/>
              </a:rPr>
              <a:t>&lt;</a:t>
            </a:r>
            <a:r>
              <a:rPr lang="en-US" sz="2000" dirty="0" err="1">
                <a:solidFill>
                  <a:srgbClr val="A52A2A"/>
                </a:solidFill>
                <a:latin typeface="Consolas"/>
              </a:rPr>
              <a:t>img</a:t>
            </a:r>
            <a:r>
              <a:rPr lang="en-US" sz="2000" dirty="0">
                <a:solidFill>
                  <a:srgbClr val="FF0000"/>
                </a:solidFill>
                <a:latin typeface="Consolas"/>
              </a:rPr>
              <a:t> </a:t>
            </a:r>
            <a:r>
              <a:rPr lang="en-US" sz="2000" dirty="0" err="1">
                <a:solidFill>
                  <a:srgbClr val="FF0000"/>
                </a:solidFill>
                <a:latin typeface="Consolas"/>
              </a:rPr>
              <a:t>src</a:t>
            </a:r>
            <a:r>
              <a:rPr lang="en-US" sz="2000" dirty="0">
                <a:solidFill>
                  <a:srgbClr val="0000CD"/>
                </a:solidFill>
                <a:latin typeface="Consolas"/>
              </a:rPr>
              <a:t>="img_girl.jpg"&gt;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000" dirty="0"/>
              <a:t>Please explore all Elements/ Tags/ attributes from </a:t>
            </a:r>
            <a:r>
              <a:rPr lang="en-US" sz="2000" dirty="0">
                <a:hlinkClick r:id="rId2"/>
              </a:rPr>
              <a:t>https://www.w3schools.com/tags/ref_attributes.asp</a:t>
            </a:r>
            <a:endParaRPr lang="en-US" sz="2000" dirty="0"/>
          </a:p>
          <a:p>
            <a:pPr marL="285750" indent="-285750">
              <a:buFont typeface="Arial" pitchFamily="34" charset="0"/>
              <a:buChar char="•"/>
            </a:pPr>
            <a:endParaRPr lang="x-none" sz="2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2640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A7385D-A5F0-E3B0-EBE5-5540640E3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1B7D9-DD14-6B17-2247-FB87653AD6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Popular HTML Elements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79D383-43BF-D9BE-A318-BE90B87408B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433F2-935B-61F2-80F8-4D77725FC724}"/>
              </a:ext>
            </a:extLst>
          </p:cNvPr>
          <p:cNvSpPr txBox="1"/>
          <p:nvPr/>
        </p:nvSpPr>
        <p:spPr>
          <a:xfrm>
            <a:off x="342900" y="1981792"/>
            <a:ext cx="10109638" cy="3816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1. Favicon</a:t>
            </a:r>
          </a:p>
          <a:p>
            <a:r>
              <a:rPr lang="en-US" sz="2200" dirty="0"/>
              <a:t>A small icon displayed in the browser tab or bookmark. Added using the &lt;link&gt; tag in the &lt;head&gt; section:</a:t>
            </a:r>
          </a:p>
          <a:p>
            <a:r>
              <a:rPr lang="en-US" sz="2200" dirty="0"/>
              <a:t>&lt;head&gt;&lt;link </a:t>
            </a:r>
            <a:r>
              <a:rPr lang="en-US" sz="2200" dirty="0" err="1"/>
              <a:t>rel</a:t>
            </a:r>
            <a:r>
              <a:rPr lang="en-US" sz="2200" dirty="0"/>
              <a:t>="icon" type="image/x-icon" </a:t>
            </a:r>
            <a:r>
              <a:rPr lang="en-US" sz="2200" dirty="0" err="1"/>
              <a:t>href</a:t>
            </a:r>
            <a:r>
              <a:rPr lang="en-US" sz="2200" dirty="0"/>
              <a:t>="favicon.ico"&gt;&lt;/head&gt;</a:t>
            </a:r>
          </a:p>
          <a:p>
            <a:r>
              <a:rPr lang="en-US" sz="2200" b="1" dirty="0"/>
              <a:t>2. Page Title</a:t>
            </a:r>
          </a:p>
          <a:p>
            <a:r>
              <a:rPr lang="en-US" sz="2200" dirty="0"/>
              <a:t>The title of the webpage displayed in the browser tab or window. Defined using the &lt;title&gt; tag within the &lt;head&gt; section.</a:t>
            </a:r>
          </a:p>
          <a:p>
            <a:r>
              <a:rPr lang="en-US" sz="2200" dirty="0"/>
              <a:t>&lt;head&gt;&lt;title&gt;My Webpage Title&lt;/title&gt;&lt;/head&gt;</a:t>
            </a:r>
          </a:p>
          <a:p>
            <a:r>
              <a:rPr lang="en-US" sz="2200" b="1" dirty="0"/>
              <a:t>3. HTML Head</a:t>
            </a:r>
          </a:p>
          <a:p>
            <a:r>
              <a:rPr lang="en-US" sz="2200" dirty="0"/>
              <a:t>The &lt;head&gt; section contains metadata and links to external resources.</a:t>
            </a:r>
          </a:p>
          <a:p>
            <a:endParaRPr lang="en-US" sz="2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E17CC0C-DC9C-676E-A90C-B412162A7A5F}"/>
              </a:ext>
            </a:extLst>
          </p:cNvPr>
          <p:cNvSpPr txBox="1"/>
          <p:nvPr/>
        </p:nvSpPr>
        <p:spPr>
          <a:xfrm>
            <a:off x="342900" y="5325573"/>
            <a:ext cx="6130578" cy="156966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/>
              <a:t>&lt;head&gt;</a:t>
            </a:r>
          </a:p>
          <a:p>
            <a:r>
              <a:rPr lang="en-US" sz="1600" dirty="0"/>
              <a:t>  &lt;title&gt;Page Title&lt;/title&gt;</a:t>
            </a:r>
          </a:p>
          <a:p>
            <a:r>
              <a:rPr lang="en-US" sz="1600" dirty="0"/>
              <a:t>  &lt;meta charset="UTF-8"&gt;</a:t>
            </a:r>
          </a:p>
          <a:p>
            <a:r>
              <a:rPr lang="en-US" sz="1600" dirty="0"/>
              <a:t>  &lt;meta name="description" content="Page Description"&gt;</a:t>
            </a:r>
          </a:p>
          <a:p>
            <a:r>
              <a:rPr lang="en-US" sz="1600" dirty="0"/>
              <a:t>  &lt;link </a:t>
            </a:r>
            <a:r>
              <a:rPr lang="en-US" sz="1600" dirty="0" err="1"/>
              <a:t>rel</a:t>
            </a:r>
            <a:r>
              <a:rPr lang="en-US" sz="1600" dirty="0"/>
              <a:t>="stylesheet" </a:t>
            </a:r>
            <a:r>
              <a:rPr lang="en-US" sz="1600" dirty="0" err="1"/>
              <a:t>href</a:t>
            </a:r>
            <a:r>
              <a:rPr lang="en-US" sz="1600" dirty="0"/>
              <a:t>="styles.css"&gt;</a:t>
            </a:r>
          </a:p>
          <a:p>
            <a:r>
              <a:rPr lang="en-US" sz="1600" dirty="0"/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3962027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DCE9E-8923-3CFA-D7F6-AE019A7B2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 Table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936958-C93D-3EAE-0259-6F5A46E47866}"/>
              </a:ext>
            </a:extLst>
          </p:cNvPr>
          <p:cNvSpPr txBox="1"/>
          <p:nvPr/>
        </p:nvSpPr>
        <p:spPr>
          <a:xfrm>
            <a:off x="489244" y="1752803"/>
            <a:ext cx="1050377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 dirty="0"/>
              <a:t> Table</a:t>
            </a:r>
          </a:p>
          <a:p>
            <a:r>
              <a:rPr lang="en-US" sz="2200" dirty="0"/>
              <a:t>Used to display data in rows and columns.</a:t>
            </a:r>
          </a:p>
          <a:p>
            <a:endParaRPr lang="en-US" sz="2200" dirty="0"/>
          </a:p>
          <a:p>
            <a:r>
              <a:rPr lang="en-US" sz="2200" dirty="0"/>
              <a:t>&lt;table&gt;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1&lt;/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  &lt;</a:t>
            </a:r>
            <a:r>
              <a:rPr lang="en-US" sz="2200" dirty="0" err="1"/>
              <a:t>th</a:t>
            </a:r>
            <a:r>
              <a:rPr lang="en-US" sz="2200" dirty="0"/>
              <a:t>&gt;Header 2&lt;/</a:t>
            </a:r>
            <a:r>
              <a:rPr lang="en-US" sz="2200" dirty="0" err="1"/>
              <a:t>th</a:t>
            </a:r>
            <a:r>
              <a:rPr lang="en-US" sz="2200" dirty="0"/>
              <a:t>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  &lt;tr&gt;</a:t>
            </a:r>
          </a:p>
          <a:p>
            <a:r>
              <a:rPr lang="en-US" sz="2200" dirty="0"/>
              <a:t>    &lt;td&gt;Data 1&lt;/td&gt;</a:t>
            </a:r>
          </a:p>
          <a:p>
            <a:r>
              <a:rPr lang="en-US" sz="2200" dirty="0"/>
              <a:t>    &lt;td&gt;Data 2&lt;/td&gt;</a:t>
            </a:r>
          </a:p>
          <a:p>
            <a:r>
              <a:rPr lang="en-US" sz="2200" dirty="0"/>
              <a:t>  &lt;/tr&gt;</a:t>
            </a:r>
          </a:p>
          <a:p>
            <a:r>
              <a:rPr lang="en-US" sz="2200" dirty="0"/>
              <a:t>&lt;/table&gt;</a:t>
            </a:r>
          </a:p>
          <a:p>
            <a:endParaRPr lang="en-US" sz="2200" dirty="0"/>
          </a:p>
          <a:p>
            <a:r>
              <a:rPr lang="en-US" sz="2200" dirty="0"/>
              <a:t>Tags: &lt;table&gt;, &lt;tr&gt; (table row), &lt;</a:t>
            </a:r>
            <a:r>
              <a:rPr lang="en-US" sz="2200" dirty="0" err="1"/>
              <a:t>th</a:t>
            </a:r>
            <a:r>
              <a:rPr lang="en-US" sz="2200" dirty="0"/>
              <a:t>&gt; (table header), &lt;td&gt; (table data).</a:t>
            </a:r>
          </a:p>
        </p:txBody>
      </p:sp>
    </p:spTree>
    <p:extLst>
      <p:ext uri="{BB962C8B-B14F-4D97-AF65-F5344CB8AC3E}">
        <p14:creationId xmlns:p14="http://schemas.microsoft.com/office/powerpoint/2010/main" val="7741558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D950C-9F3D-75B9-3FB9-A039C56EEB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19BC85-CEBB-CD73-243C-D0A6CCC39A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XML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1E15910-2716-A2DD-4925-9E4A21D5424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22B256E-5AFD-942B-640C-C97FA078E355}"/>
              </a:ext>
            </a:extLst>
          </p:cNvPr>
          <p:cNvSpPr txBox="1"/>
          <p:nvPr/>
        </p:nvSpPr>
        <p:spPr>
          <a:xfrm>
            <a:off x="2307772" y="2049390"/>
            <a:ext cx="80728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stands for </a:t>
            </a:r>
            <a:r>
              <a:rPr lang="en-US" sz="2400" dirty="0" err="1">
                <a:solidFill>
                  <a:prstClr val="black"/>
                </a:solidFill>
                <a:latin typeface="Calibri"/>
              </a:rPr>
              <a:t>eXtensible</a:t>
            </a:r>
            <a:r>
              <a:rPr lang="en-US" sz="2400" dirty="0">
                <a:solidFill>
                  <a:prstClr val="black"/>
                </a:solidFill>
                <a:latin typeface="Calibri"/>
              </a:rPr>
              <a:t> Markup Language.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</a:t>
            </a:r>
            <a:r>
              <a:rPr lang="en-US" sz="2400" b="1" dirty="0">
                <a:solidFill>
                  <a:prstClr val="black"/>
                </a:solidFill>
                <a:latin typeface="Calibri"/>
              </a:rPr>
              <a:t>store and transport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was designed to be both human- and machine-readable.</a:t>
            </a:r>
          </a:p>
        </p:txBody>
      </p:sp>
      <p:pic>
        <p:nvPicPr>
          <p:cNvPr id="6" name="Picture 2" descr="E:\Spring 2019-2020\Web Tech\Silde Web Tech\XML-Document-for-Students-Courses.png">
            <a:extLst>
              <a:ext uri="{FF2B5EF4-FFF2-40B4-BE49-F238E27FC236}">
                <a16:creationId xmlns:a16="http://schemas.microsoft.com/office/drawing/2014/main" id="{108B1D68-81B8-C171-E08D-701CBF0787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3581401"/>
            <a:ext cx="4319588" cy="2543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54248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XML?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was designed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carry data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not to display data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tags are not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predefined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. You must define your own tags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designed to be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self-descriptive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a W3C Recommendation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Maybe it is a little hard to understand, but XML does not DO anything. XML was created to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structure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store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, and </a:t>
            </a:r>
            <a:r>
              <a:rPr lang="en-US" altLang="en-US" sz="2400" kern="0" dirty="0">
                <a:solidFill>
                  <a:srgbClr val="FF0000"/>
                </a:solidFill>
                <a:latin typeface="Arial"/>
              </a:rPr>
              <a:t>transport</a:t>
            </a: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 information.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srgbClr val="183883"/>
                </a:solidFill>
                <a:latin typeface="Arial"/>
              </a:rPr>
              <a:t>XML is the most common tool for data transmissions between all sorts of applications.</a:t>
            </a:r>
          </a:p>
        </p:txBody>
      </p:sp>
    </p:spTree>
    <p:extLst>
      <p:ext uri="{BB962C8B-B14F-4D97-AF65-F5344CB8AC3E}">
        <p14:creationId xmlns:p14="http://schemas.microsoft.com/office/powerpoint/2010/main" val="38017347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530326" y="747007"/>
            <a:ext cx="8869681" cy="17173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Form a Tree Structure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XML documents must contain a root element. This element is "the parent" of all other elements.</a:t>
            </a:r>
          </a:p>
          <a:p>
            <a:pPr marL="342900" indent="-3429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B4CCE2"/>
              </a:buClr>
              <a:buFontTx/>
              <a:buChar char="•"/>
            </a:pPr>
            <a:r>
              <a:rPr lang="en-US" altLang="en-US" sz="2400" kern="0" dirty="0">
                <a:solidFill>
                  <a:prstClr val="black"/>
                </a:solidFill>
                <a:latin typeface="Arial"/>
              </a:rPr>
              <a:t>The elements in an XML document form a document tree. 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7148" y="2773906"/>
            <a:ext cx="6396038" cy="3619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78633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Naming Rules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follow these naming rules: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 contain letters, numbers, and other characters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a number or punctuation character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start with the letters xml (or XML, or Xml, </a:t>
            </a:r>
            <a:r>
              <a:rPr lang="en-US" altLang="en-US" sz="2400" dirty="0" err="1">
                <a:solidFill>
                  <a:srgbClr val="FF0000"/>
                </a:solidFill>
                <a:latin typeface="Calibri"/>
              </a:rPr>
              <a:t>etc</a:t>
            </a:r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)</a:t>
            </a:r>
          </a:p>
          <a:p>
            <a:pPr lvl="1"/>
            <a:r>
              <a:rPr lang="en-US" altLang="en-US" sz="2400" dirty="0">
                <a:solidFill>
                  <a:srgbClr val="FF0000"/>
                </a:solidFill>
                <a:latin typeface="Calibri"/>
              </a:rPr>
              <a:t>Names cannot contain spaces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Any name can be used, no words are reserved.</a:t>
            </a:r>
          </a:p>
          <a:p>
            <a:endParaRPr lang="en-US" altLang="en-US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7" name="Subtitle 2"/>
          <p:cNvSpPr txBox="1">
            <a:spLocks/>
          </p:cNvSpPr>
          <p:nvPr/>
        </p:nvSpPr>
        <p:spPr>
          <a:xfrm>
            <a:off x="1859494" y="371820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XML Syntax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749992" y="4184009"/>
            <a:ext cx="886968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All XML Elements Must Have a Closing Tag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Tags are Case Sensitive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Elements Must be Properly Nested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Documents Must Have a Root Element</a:t>
            </a:r>
          </a:p>
          <a:p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XML Attribute Values Must be Quoted</a:t>
            </a:r>
          </a:p>
        </p:txBody>
      </p:sp>
    </p:spTree>
    <p:extLst>
      <p:ext uri="{BB962C8B-B14F-4D97-AF65-F5344CB8AC3E}">
        <p14:creationId xmlns:p14="http://schemas.microsoft.com/office/powerpoint/2010/main" val="336178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 b="1" dirty="0"/>
              <a:t>What is the DOM?</a:t>
            </a: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 </a:t>
            </a:r>
            <a:endParaRPr lang="x-none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0A471B-FCB5-3949-B014-0D06C67E41B3}"/>
              </a:ext>
            </a:extLst>
          </p:cNvPr>
          <p:cNvSpPr txBox="1"/>
          <p:nvPr/>
        </p:nvSpPr>
        <p:spPr>
          <a:xfrm>
            <a:off x="2307772" y="2049390"/>
            <a:ext cx="807284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a standard for accessing documents like XML and HTML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"The W3C Document Object Model (DOM) is a platform and language-neutral interface that allows programs and scripts to dynamically access and update the content, structure, and style of a document."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is separated into 3 different parts / levels: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Core DOM - standard model for any structured document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XML DOM - standard model for XML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HTML DOM - standard model for HTML documents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>
                <a:solidFill>
                  <a:prstClr val="black"/>
                </a:solidFill>
                <a:latin typeface="Calibri"/>
              </a:rPr>
              <a:t>The DOM defines the objects and properties of all document elements, and the methods (interface) to access them.</a:t>
            </a:r>
          </a:p>
        </p:txBody>
      </p:sp>
    </p:spTree>
    <p:extLst>
      <p:ext uri="{BB962C8B-B14F-4D97-AF65-F5344CB8AC3E}">
        <p14:creationId xmlns:p14="http://schemas.microsoft.com/office/powerpoint/2010/main" val="1116609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/>
          <p:cNvSpPr txBox="1">
            <a:spLocks/>
          </p:cNvSpPr>
          <p:nvPr/>
        </p:nvSpPr>
        <p:spPr>
          <a:xfrm>
            <a:off x="1859494" y="731162"/>
            <a:ext cx="6543608" cy="493414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prstClr val="white">
                  <a:lumMod val="65000"/>
                </a:prstClr>
              </a:buClr>
              <a:buNone/>
            </a:pPr>
            <a:r>
              <a:rPr lang="en-US" altLang="en-US" sz="2800" b="1" dirty="0">
                <a:solidFill>
                  <a:prstClr val="black">
                    <a:lumMod val="85000"/>
                    <a:lumOff val="15000"/>
                  </a:prstClr>
                </a:solidFill>
                <a:latin typeface="Calibri"/>
              </a:rPr>
              <a:t>DOM application and Example</a:t>
            </a:r>
            <a:endParaRPr lang="en-US" sz="2600" b="1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BED9D7-DC35-6145-B086-E1B62BC08349}"/>
              </a:ext>
            </a:extLst>
          </p:cNvPr>
          <p:cNvSpPr txBox="1"/>
          <p:nvPr/>
        </p:nvSpPr>
        <p:spPr>
          <a:xfrm>
            <a:off x="1634831" y="1283034"/>
            <a:ext cx="88696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altLang="en-US" sz="2400" dirty="0">
                <a:solidFill>
                  <a:prstClr val="black"/>
                </a:solidFill>
                <a:latin typeface="Calibri"/>
              </a:rPr>
              <a:t>When an HTML page is rendered in a browser, the browser parses the markup (e.g. HTML), downloaded from the web-server into an in-memory DOM.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altLang="en-US" sz="2000" dirty="0">
                <a:solidFill>
                  <a:prstClr val="black"/>
                </a:solidFill>
                <a:latin typeface="Calibri"/>
              </a:rPr>
              <a:t>The DOM is used to construct additional internal structures used to display the page in the browser window.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5D77803C-6484-110C-F87A-50BEE09A00A3}"/>
              </a:ext>
            </a:extLst>
          </p:cNvPr>
          <p:cNvGrpSpPr/>
          <p:nvPr/>
        </p:nvGrpSpPr>
        <p:grpSpPr>
          <a:xfrm>
            <a:off x="2523109" y="3429000"/>
            <a:ext cx="7145781" cy="3208925"/>
            <a:chOff x="101246" y="2233738"/>
            <a:chExt cx="8723788" cy="3968159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3B35467B-2141-34FA-9A1E-467D4D7A4D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3152905" y="2233738"/>
              <a:ext cx="5672129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593D3129-EB5F-AC09-9142-975389EDB9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1246" y="2233738"/>
              <a:ext cx="6007738" cy="39681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866692732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BA738DD7176B04DB0A7A860E99B23CF" ma:contentTypeVersion="7" ma:contentTypeDescription="Create a new document." ma:contentTypeScope="" ma:versionID="83778c5113f2ac73ed960537e13eab52">
  <xsd:schema xmlns:xsd="http://www.w3.org/2001/XMLSchema" xmlns:xs="http://www.w3.org/2001/XMLSchema" xmlns:p="http://schemas.microsoft.com/office/2006/metadata/properties" xmlns:ns2="e89bd651-a027-450b-961b-5fe5ec8507fb" targetNamespace="http://schemas.microsoft.com/office/2006/metadata/properties" ma:root="true" ma:fieldsID="97bf77adaf3e1d07a0d4e04d28f981fb" ns2:_="">
    <xsd:import namespace="e89bd651-a027-450b-961b-5fe5ec8507f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89bd651-a027-450b-961b-5fe5ec8507f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140C125-154F-4393-8B11-4A2F0364FA80}"/>
</file>

<file path=customXml/itemProps2.xml><?xml version="1.0" encoding="utf-8"?>
<ds:datastoreItem xmlns:ds="http://schemas.openxmlformats.org/officeDocument/2006/customXml" ds:itemID="{DF15D6DA-C48F-44C7-9D55-EE1928554A56}"/>
</file>

<file path=customXml/itemProps3.xml><?xml version="1.0" encoding="utf-8"?>
<ds:datastoreItem xmlns:ds="http://schemas.openxmlformats.org/officeDocument/2006/customXml" ds:itemID="{0C72C6E8-B0FD-4305-B5B3-B29F9743979F}"/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1277</Words>
  <Application>Microsoft Office PowerPoint</Application>
  <PresentationFormat>Widescreen</PresentationFormat>
  <Paragraphs>198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Spectrum</vt:lpstr>
      <vt:lpstr>HTML</vt:lpstr>
      <vt:lpstr>What is HTML?</vt:lpstr>
      <vt:lpstr>PowerPoint Presentation</vt:lpstr>
      <vt:lpstr>PowerPoint Presentation</vt:lpstr>
      <vt:lpstr>HTML Version</vt:lpstr>
      <vt:lpstr>HTML Tags and Elements</vt:lpstr>
      <vt:lpstr>HTML Attributes</vt:lpstr>
      <vt:lpstr>Popular HTML Elements</vt:lpstr>
      <vt:lpstr>HTML Table</vt:lpstr>
      <vt:lpstr>XML</vt:lpstr>
      <vt:lpstr>What is XML?</vt:lpstr>
      <vt:lpstr>PowerPoint Presentation</vt:lpstr>
      <vt:lpstr>PowerPoint Presentation</vt:lpstr>
      <vt:lpstr>What is the DOM?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Sazzad Hossain</dc:creator>
  <cp:lastModifiedBy>Sazzad Hossain</cp:lastModifiedBy>
  <cp:revision>31</cp:revision>
  <dcterms:created xsi:type="dcterms:W3CDTF">2025-03-09T06:56:01Z</dcterms:created>
  <dcterms:modified xsi:type="dcterms:W3CDTF">2026-06-27T05:24:42Z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0x0101006BA738DD7176B04DB0A7A860E99B23CF</vt:lpwstr>
  </property>
</Properties>
</file>