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ppt/changesInfos/changesInfo1.xml" ContentType="application/vnd.ms-powerpoint.changesinfo+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48" r:id="rId19"/>
    <p:sldId id="336" r:id="rId20"/>
    <p:sldId id="335" r:id="rId21"/>
    <p:sldId id="337" r:id="rId22"/>
    <p:sldId id="338" r:id="rId23"/>
    <p:sldId id="339" r:id="rId24"/>
    <p:sldId id="340" r:id="rId25"/>
    <p:sldId id="341" r:id="rId26"/>
    <p:sldId id="342" r:id="rId27"/>
    <p:sldId id="343" r:id="rId28"/>
    <p:sldId id="350" r:id="rId29"/>
    <p:sldId id="344" r:id="rId30"/>
    <p:sldId id="346" r:id="rId31"/>
    <p:sldId id="345" r:id="rId32"/>
    <p:sldId id="347" r:id="rId33"/>
    <p:sldId id="265" r:id="rId34"/>
    <p:sldId id="26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7B4ACB-2F39-98C6-8724-4A22E1706DED}" v="2" dt="2026-06-26T04:53:34.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724"/>
  </p:normalViewPr>
  <p:slideViewPr>
    <p:cSldViewPr snapToGrid="0" snapToObjects="1">
      <p:cViewPr>
        <p:scale>
          <a:sx n="69" d="100"/>
          <a:sy n="69" d="100"/>
        </p:scale>
        <p:origin x="133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0" Type="http://schemas.openxmlformats.org/officeDocument/2006/relationships/slide" Target="slides/slide19.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IBNE HABIB" userId="S::23-54382-3@student.aiub.edu::10a66b89-07cb-41c6-8917-c8a7044fb704" providerId="AD" clId="Web-{287B4ACB-2F39-98C6-8724-4A22E1706DED}"/>
    <pc:docChg chg="modSld">
      <pc:chgData name="FAHIM IBNE HABIB" userId="S::23-54382-3@student.aiub.edu::10a66b89-07cb-41c6-8917-c8a7044fb704" providerId="AD" clId="Web-{287B4ACB-2F39-98C6-8724-4A22E1706DED}" dt="2026-06-26T04:53:34.005" v="1" actId="1076"/>
      <pc:docMkLst>
        <pc:docMk/>
      </pc:docMkLst>
      <pc:sldChg chg="modSp">
        <pc:chgData name="FAHIM IBNE HABIB" userId="S::23-54382-3@student.aiub.edu::10a66b89-07cb-41c6-8917-c8a7044fb704" providerId="AD" clId="Web-{287B4ACB-2F39-98C6-8724-4A22E1706DED}" dt="2026-06-26T04:53:34.005" v="1" actId="1076"/>
        <pc:sldMkLst>
          <pc:docMk/>
          <pc:sldMk cId="3101342764" sldId="319"/>
        </pc:sldMkLst>
        <pc:spChg chg="mod">
          <ac:chgData name="FAHIM IBNE HABIB" userId="S::23-54382-3@student.aiub.edu::10a66b89-07cb-41c6-8917-c8a7044fb704" providerId="AD" clId="Web-{287B4ACB-2F39-98C6-8724-4A22E1706DED}" dt="2026-06-26T04:53:34.005" v="1" actId="1076"/>
          <ac:spMkLst>
            <pc:docMk/>
            <pc:sldMk cId="3101342764" sldId="319"/>
            <ac:spMk id="3" creationId="{56CD2EA8-B54C-CE4F-A943-BFB367453E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6/25/2026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6/25/2026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zzad@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69204796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Sazzad</a:t>
                      </a:r>
                      <a:r>
                        <a:rPr lang="en-US" i="1" dirty="0"/>
                        <a:t> Hossain </a:t>
                      </a:r>
                      <a:r>
                        <a:rPr lang="en-US" i="1" dirty="0">
                          <a:hlinkClick r:id="rId2"/>
                        </a:rPr>
                        <a:t>sazzad@aiub.edu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75972"/>
            <a:ext cx="8892157" cy="6001643"/>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background-color: red;</a:t>
            </a:r>
          </a:p>
          <a:p>
            <a:endParaRPr lang="en-US" sz="1600" dirty="0">
              <a:solidFill>
                <a:srgbClr val="FF0000"/>
              </a:solidFill>
            </a:endParaRP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highlight>
                  <a:srgbClr val="FFFF00"/>
                </a:highligh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692771"/>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p>
          <a:p>
            <a:endParaRPr lang="en-US" sz="1600" dirty="0"/>
          </a:p>
          <a:p>
            <a:r>
              <a:rPr lang="en-US" sz="1600" dirty="0"/>
              <a:t>&lt;p&gt;</a:t>
            </a:r>
            <a:r>
              <a:rPr lang="en-US" sz="1600" dirty="0" err="1"/>
              <a:t>hii</a:t>
            </a:r>
            <a:r>
              <a:rPr lang="en-US" sz="1600" dirty="0"/>
              <a:t>&lt;/p&gt;</a:t>
            </a:r>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4893647"/>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r>
              <a:rPr lang="en-US" sz="2400" dirty="0">
                <a:solidFill>
                  <a:schemeClr val="bg2">
                    <a:lumMod val="50000"/>
                  </a:schemeClr>
                </a:solidFill>
              </a:rPr>
              <a:t>h5</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endParaRPr lang="en-US" sz="2400" dirty="0"/>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088514"/>
            <a:ext cx="7879283"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solidFill>
                  <a:srgbClr val="FF0000"/>
                </a:solidFill>
              </a:rPr>
              <a:t>h1 {</a:t>
            </a:r>
          </a:p>
          <a:p>
            <a:r>
              <a:rPr lang="en-US" sz="2400" dirty="0">
                <a:solidFill>
                  <a:srgbClr val="FF0000"/>
                </a:solidFill>
              </a:rPr>
              <a:t>  color: white;</a:t>
            </a:r>
          </a:p>
          <a:p>
            <a:r>
              <a:rPr lang="en-US" sz="2400" dirty="0">
                <a:solidFill>
                  <a:srgbClr val="FF0000"/>
                </a:solidFill>
              </a:rPr>
              <a:t>  text-align: center;</a:t>
            </a:r>
          </a:p>
          <a:p>
            <a:r>
              <a:rPr lang="en-US" sz="2400" dirty="0">
                <a:solidFill>
                  <a:srgbClr val="FF0000"/>
                </a:solidFill>
              </a:rPr>
              <a:t>}</a:t>
            </a:r>
          </a:p>
        </p:txBody>
      </p:sp>
      <p:sp>
        <p:nvSpPr>
          <p:cNvPr id="2" name="TextBox 1">
            <a:extLst>
              <a:ext uri="{FF2B5EF4-FFF2-40B4-BE49-F238E27FC236}">
                <a16:creationId xmlns:a16="http://schemas.microsoft.com/office/drawing/2014/main" id="{C05F0711-A577-227E-71DD-179B322DB293}"/>
              </a:ext>
            </a:extLst>
          </p:cNvPr>
          <p:cNvSpPr txBox="1"/>
          <p:nvPr/>
        </p:nvSpPr>
        <p:spPr>
          <a:xfrm>
            <a:off x="3568390" y="3692194"/>
            <a:ext cx="7094827" cy="1477328"/>
          </a:xfrm>
          <a:prstGeom prst="rect">
            <a:avLst/>
          </a:prstGeom>
          <a:noFill/>
        </p:spPr>
        <p:txBody>
          <a:bodyPr wrap="none" rtlCol="0">
            <a:spAutoFit/>
          </a:bodyPr>
          <a:lstStyle/>
          <a:p>
            <a:r>
              <a:rPr lang="en-US" sz="1800" dirty="0"/>
              <a:t>The CSS rule below will be applied to the HTML element with id="</a:t>
            </a:r>
            <a:r>
              <a:rPr lang="en-US" sz="1800" dirty="0">
                <a:solidFill>
                  <a:schemeClr val="bg2">
                    <a:lumMod val="50000"/>
                  </a:schemeClr>
                </a:solidFill>
              </a:rPr>
              <a:t>para1</a:t>
            </a:r>
            <a:r>
              <a:rPr lang="en-US" sz="1800" dirty="0"/>
              <a:t>": </a:t>
            </a:r>
          </a:p>
          <a:p>
            <a:r>
              <a:rPr lang="en-US" sz="1800" b="1" dirty="0"/>
              <a:t>&lt;h1 id="</a:t>
            </a:r>
            <a:r>
              <a:rPr lang="en-US" sz="1800" b="1" dirty="0">
                <a:solidFill>
                  <a:schemeClr val="bg2">
                    <a:lumMod val="50000"/>
                  </a:schemeClr>
                </a:solidFill>
              </a:rPr>
              <a:t>para1</a:t>
            </a:r>
            <a:r>
              <a:rPr lang="en-US" sz="1800" b="1" dirty="0"/>
              <a:t>" &gt; </a:t>
            </a:r>
            <a:r>
              <a:rPr lang="en-US" sz="1800" b="1" dirty="0" err="1"/>
              <a:t>hellow</a:t>
            </a:r>
            <a:r>
              <a:rPr lang="en-US" sz="1800" b="1" dirty="0"/>
              <a:t> &lt;/h1&gt;</a:t>
            </a:r>
          </a:p>
          <a:p>
            <a:r>
              <a:rPr lang="en-US" sz="1800" b="1" dirty="0"/>
              <a:t>&lt;h2 id="</a:t>
            </a:r>
            <a:r>
              <a:rPr lang="en-US" sz="1800" b="1" dirty="0">
                <a:solidFill>
                  <a:schemeClr val="bg2">
                    <a:lumMod val="50000"/>
                  </a:schemeClr>
                </a:solidFill>
              </a:rPr>
              <a:t>para1</a:t>
            </a:r>
            <a:r>
              <a:rPr lang="en-US" sz="1800" b="1" dirty="0"/>
              <a:t>" &gt; </a:t>
            </a:r>
            <a:r>
              <a:rPr lang="en-US" sz="1800" b="1" dirty="0" err="1"/>
              <a:t>hellow</a:t>
            </a:r>
            <a:r>
              <a:rPr lang="en-US" sz="1800" b="1" dirty="0"/>
              <a:t> &lt;/h2&gt;</a:t>
            </a:r>
          </a:p>
          <a:p>
            <a:endParaRPr lang="en-US" sz="1800" b="1" dirty="0"/>
          </a:p>
          <a:p>
            <a:endParaRPr lang="en-US" dirty="0"/>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2" y="1238632"/>
            <a:ext cx="7183284" cy="5632311"/>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a:t>
            </a:r>
          </a:p>
          <a:p>
            <a:r>
              <a:rPr lang="en-US" sz="2000" dirty="0"/>
              <a:t>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left;</a:t>
            </a:r>
            <a:br>
              <a:rPr lang="en-US" sz="2000" dirty="0"/>
            </a:br>
            <a:r>
              <a:rPr lang="en-US" sz="2000" dirty="0"/>
              <a:t>  color: white;</a:t>
            </a:r>
            <a:br>
              <a:rPr lang="en-US" sz="2000" dirty="0"/>
            </a:br>
            <a:r>
              <a:rPr lang="en-US" sz="2000" dirty="0"/>
              <a:t>}</a:t>
            </a:r>
          </a:p>
        </p:txBody>
      </p:sp>
      <p:sp>
        <p:nvSpPr>
          <p:cNvPr id="2" name="TextBox 1">
            <a:extLst>
              <a:ext uri="{FF2B5EF4-FFF2-40B4-BE49-F238E27FC236}">
                <a16:creationId xmlns:a16="http://schemas.microsoft.com/office/drawing/2014/main" id="{62F56F0A-10C4-4A54-B1D3-3BD34A4673C1}"/>
              </a:ext>
            </a:extLst>
          </p:cNvPr>
          <p:cNvSpPr txBox="1"/>
          <p:nvPr/>
        </p:nvSpPr>
        <p:spPr>
          <a:xfrm>
            <a:off x="6598266" y="2718385"/>
            <a:ext cx="3562066" cy="2308324"/>
          </a:xfrm>
          <a:prstGeom prst="rect">
            <a:avLst/>
          </a:prstGeom>
          <a:noFill/>
        </p:spPr>
        <p:txBody>
          <a:bodyPr wrap="square" rtlCol="0">
            <a:spAutoFit/>
          </a:bodyPr>
          <a:lstStyle/>
          <a:p>
            <a:r>
              <a:rPr lang="en-US" dirty="0"/>
              <a:t>&lt;p class=“center”&gt;</a:t>
            </a:r>
          </a:p>
          <a:p>
            <a:r>
              <a:rPr lang="en-US" dirty="0"/>
              <a:t>Hello world</a:t>
            </a:r>
          </a:p>
          <a:p>
            <a:r>
              <a:rPr lang="en-US" dirty="0"/>
              <a:t>&lt;/p&gt;</a:t>
            </a:r>
          </a:p>
          <a:p>
            <a:r>
              <a:rPr lang="en-US" dirty="0"/>
              <a:t>&lt;h1 id=“para1” class=“center”&gt;</a:t>
            </a:r>
          </a:p>
          <a:p>
            <a:r>
              <a:rPr lang="en-US" dirty="0"/>
              <a:t>Hello world</a:t>
            </a:r>
          </a:p>
          <a:p>
            <a:r>
              <a:rPr lang="en-US" dirty="0"/>
              <a:t>&lt;/h1&gt;</a:t>
            </a:r>
          </a:p>
          <a:p>
            <a:r>
              <a:rPr lang="en-US" dirty="0"/>
              <a:t>&lt;p&gt; </a:t>
            </a:r>
            <a:r>
              <a:rPr lang="en-US" dirty="0" err="1"/>
              <a:t>hellow</a:t>
            </a:r>
            <a:r>
              <a:rPr lang="en-US" dirty="0"/>
              <a:t> world 2 &lt;/p&gt;</a:t>
            </a:r>
          </a:p>
          <a:p>
            <a:endParaRPr lang="en-US" dirty="0"/>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highlight>
                  <a:srgbClr val="00FF00"/>
                </a:highlight>
              </a:rPr>
              <a:t>External CSS</a:t>
            </a:r>
          </a:p>
          <a:p>
            <a:pPr marL="285750" indent="-285750">
              <a:buFont typeface="Arial" panose="020B0604020202020204" pitchFamily="34" charset="0"/>
              <a:buChar char="•"/>
            </a:pPr>
            <a:r>
              <a:rPr lang="en-US" sz="2800" dirty="0">
                <a:highlight>
                  <a:srgbClr val="FF0000"/>
                </a:highlight>
              </a:rPr>
              <a:t>Internal CSS</a:t>
            </a:r>
          </a:p>
          <a:p>
            <a:pPr marL="285750" indent="-285750">
              <a:buFont typeface="Arial" panose="020B0604020202020204" pitchFamily="34" charset="0"/>
              <a:buChar char="•"/>
            </a:pPr>
            <a:r>
              <a:rPr lang="en-US" sz="2800" dirty="0">
                <a:highlight>
                  <a:srgbClr val="FF0000"/>
                </a:highlight>
              </a:rPr>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708981"/>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br>
              <a:rPr lang="en-US" dirty="0"/>
            </a:br>
            <a:r>
              <a:rPr lang="en-US" dirty="0"/>
              <a:t>h1 {</a:t>
            </a:r>
            <a:br>
              <a:rPr lang="en-US" dirty="0"/>
            </a:br>
            <a:r>
              <a:rPr lang="en-US" dirty="0"/>
              <a:t>  color: navy;</a:t>
            </a:r>
            <a:br>
              <a:rPr lang="en-US" dirty="0"/>
            </a:br>
            <a:r>
              <a:rPr lang="en-US" dirty="0"/>
              <a:t>  margin-left: 20px;</a:t>
            </a:r>
          </a:p>
          <a:p>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5816977"/>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19D62C1-BE57-434C-9A89-CEB1C038898D}"/>
              </a:ext>
            </a:extLst>
          </p:cNvPr>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Inline CSS</a:t>
            </a:r>
          </a:p>
        </p:txBody>
      </p:sp>
      <p:sp>
        <p:nvSpPr>
          <p:cNvPr id="3" name="Rectangle 2">
            <a:extLst>
              <a:ext uri="{FF2B5EF4-FFF2-40B4-BE49-F238E27FC236}">
                <a16:creationId xmlns:a16="http://schemas.microsoft.com/office/drawing/2014/main" id="{F3E1DC15-E996-41E7-91E4-51FE00B24F14}"/>
              </a:ext>
            </a:extLst>
          </p:cNvPr>
          <p:cNvSpPr/>
          <p:nvPr/>
        </p:nvSpPr>
        <p:spPr>
          <a:xfrm>
            <a:off x="485334" y="1327948"/>
            <a:ext cx="7856807" cy="4555093"/>
          </a:xfrm>
          <a:prstGeom prst="rect">
            <a:avLst/>
          </a:prstGeom>
        </p:spPr>
        <p:txBody>
          <a:bodyPr wrap="square">
            <a:spAutoFit/>
          </a:bodyPr>
          <a:lstStyle/>
          <a:p>
            <a:pPr marL="342900" indent="-342900">
              <a:buFont typeface="Arial" panose="020B0604020202020204" pitchFamily="34" charset="0"/>
              <a:buChar char="•"/>
            </a:pPr>
            <a:r>
              <a:rPr lang="en-US" sz="2000" dirty="0"/>
              <a:t>used to apply a unique style for a single element.</a:t>
            </a:r>
          </a:p>
          <a:p>
            <a:pPr marL="342900" indent="-342900">
              <a:buFont typeface="Arial" panose="020B0604020202020204" pitchFamily="34" charset="0"/>
              <a:buChar char="•"/>
            </a:pPr>
            <a:r>
              <a:rPr lang="en-US" sz="2000" dirty="0"/>
              <a:t>To use inline styles, must use </a:t>
            </a:r>
            <a:r>
              <a:rPr lang="en-US" sz="2000" b="1" dirty="0"/>
              <a:t>style</a:t>
            </a:r>
            <a:r>
              <a:rPr lang="en-US" sz="2000" dirty="0"/>
              <a:t> attribute to the relevant element</a:t>
            </a:r>
          </a:p>
          <a:p>
            <a:pPr marL="342900" indent="-342900">
              <a:buFont typeface="Arial" panose="020B0604020202020204" pitchFamily="34" charset="0"/>
              <a:buChar char="•"/>
            </a:pPr>
            <a:r>
              <a:rPr lang="en-US" sz="2000" dirty="0"/>
              <a:t>The </a:t>
            </a:r>
            <a:r>
              <a:rPr lang="en-US" sz="2000" b="1" dirty="0"/>
              <a:t>style</a:t>
            </a:r>
            <a:r>
              <a:rPr lang="en-US" sz="2000" dirty="0"/>
              <a:t> attribute contains</a:t>
            </a:r>
            <a:r>
              <a:rPr lang="en-US" dirty="0"/>
              <a:t> &lt;!DOCTYPE html&gt;</a:t>
            </a:r>
            <a:br>
              <a:rPr lang="en-US" sz="2000" dirty="0"/>
            </a:b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r>
              <a:rPr lang="en-US" dirty="0"/>
              <a:t>&lt;html&gt;</a:t>
            </a:r>
            <a:br>
              <a:rPr lang="en-US" sz="2000" dirty="0"/>
            </a:br>
            <a:r>
              <a:rPr lang="en-US" dirty="0"/>
              <a:t>&lt;body&gt;</a:t>
            </a:r>
            <a:br>
              <a:rPr lang="en-US" sz="2000" dirty="0"/>
            </a:br>
            <a:br>
              <a:rPr lang="en-US" sz="2000" dirty="0"/>
            </a:br>
            <a:r>
              <a:rPr lang="en-US" dirty="0"/>
              <a:t>&lt;h1</a:t>
            </a:r>
            <a:r>
              <a:rPr lang="en-US" dirty="0">
                <a:solidFill>
                  <a:schemeClr val="bg2">
                    <a:lumMod val="50000"/>
                  </a:schemeClr>
                </a:solidFill>
              </a:rPr>
              <a:t> 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sz="2000"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sz="2000" dirty="0"/>
            </a:br>
            <a:br>
              <a:rPr lang="en-US" sz="2000" dirty="0"/>
            </a:br>
            <a:r>
              <a:rPr lang="en-US" dirty="0"/>
              <a:t>&lt;/body&gt;</a:t>
            </a:r>
            <a:br>
              <a:rPr lang="en-US" sz="2000" dirty="0"/>
            </a:br>
            <a:r>
              <a:rPr lang="en-US" dirty="0"/>
              <a:t>&lt;/html&gt;</a:t>
            </a:r>
            <a:endParaRPr lang="en-US" sz="2000" dirty="0"/>
          </a:p>
        </p:txBody>
      </p:sp>
    </p:spTree>
    <p:extLst>
      <p:ext uri="{BB962C8B-B14F-4D97-AF65-F5344CB8AC3E}">
        <p14:creationId xmlns:p14="http://schemas.microsoft.com/office/powerpoint/2010/main" val="636940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8754909" cy="5724644"/>
          </a:xfrm>
          <a:prstGeom prst="rect">
            <a:avLst/>
          </a:prstGeom>
          <a:noFill/>
        </p:spPr>
        <p:txBody>
          <a:bodyPr wrap="square" rtlCol="0">
            <a:spAutoFit/>
          </a:bodyPr>
          <a:lstStyle/>
          <a:p>
            <a:r>
              <a:rPr lang="en-US" sz="2400" b="1" dirty="0"/>
              <a:t>Content</a:t>
            </a:r>
            <a:r>
              <a:rPr lang="en-US" sz="2400" dirty="0"/>
              <a:t> - The content of the box, where text and images appear</a:t>
            </a:r>
          </a:p>
          <a:p>
            <a:r>
              <a:rPr lang="en-US" sz="2400" b="1" dirty="0"/>
              <a:t>Padding</a:t>
            </a:r>
            <a:r>
              <a:rPr lang="en-US" sz="2400" dirty="0"/>
              <a:t> - Clears an area around the content. The padding is transparent</a:t>
            </a:r>
          </a:p>
          <a:p>
            <a:r>
              <a:rPr lang="en-US" sz="2400" b="1" dirty="0"/>
              <a:t>Border</a:t>
            </a:r>
            <a:r>
              <a:rPr lang="en-US" sz="2400" dirty="0"/>
              <a:t> - A border that goes around the padding and content</a:t>
            </a:r>
          </a:p>
          <a:p>
            <a:r>
              <a:rPr lang="en-US" sz="2400" b="1" dirty="0"/>
              <a:t>Margin</a:t>
            </a:r>
            <a:r>
              <a:rPr lang="en-US" sz="2400" dirty="0"/>
              <a:t> - Clears an area outside the border. The margin is transparent</a:t>
            </a:r>
            <a:endParaRPr lang="en-US" dirty="0"/>
          </a:p>
          <a:p>
            <a:endParaRPr lang="en-US" dirty="0">
              <a:solidFill>
                <a:schemeClr val="bg2">
                  <a:lumMod val="50000"/>
                </a:schemeClr>
              </a:solidFill>
            </a:endParaRPr>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sz="2400" dirty="0"/>
          </a:p>
          <a:p>
            <a:r>
              <a:rPr lang="en-US" sz="2400" dirty="0"/>
              <a:t>The </a:t>
            </a:r>
            <a:r>
              <a:rPr lang="en-US" sz="2400" dirty="0">
                <a:solidFill>
                  <a:schemeClr val="bg2">
                    <a:lumMod val="50000"/>
                  </a:schemeClr>
                </a:solidFill>
              </a:rPr>
              <a:t>&lt;div&gt; </a:t>
            </a:r>
            <a:r>
              <a:rPr lang="en-US" sz="2400" dirty="0"/>
              <a:t>tag defines a division or a section in an HTML document.</a:t>
            </a:r>
          </a:p>
          <a:p>
            <a:r>
              <a:rPr lang="en-US" sz="2400" dirty="0"/>
              <a:t>The </a:t>
            </a:r>
            <a:r>
              <a:rPr lang="en-US" sz="2400" dirty="0">
                <a:solidFill>
                  <a:schemeClr val="bg2">
                    <a:lumMod val="50000"/>
                  </a:schemeClr>
                </a:solidFill>
              </a:rPr>
              <a:t>&lt;div&gt; </a:t>
            </a:r>
            <a:r>
              <a:rPr lang="en-US" sz="2400" dirty="0"/>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997148" y="3176028"/>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EDF0-BB2E-4CC8-22F5-A9AAE70DC5D0}"/>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D0B1E02-C4B6-32DC-421F-4B29FF1D4240}"/>
              </a:ext>
            </a:extLst>
          </p:cNvPr>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More CSS property </a:t>
            </a:r>
          </a:p>
        </p:txBody>
      </p:sp>
      <p:sp>
        <p:nvSpPr>
          <p:cNvPr id="7" name="TextBox 6">
            <a:extLst>
              <a:ext uri="{FF2B5EF4-FFF2-40B4-BE49-F238E27FC236}">
                <a16:creationId xmlns:a16="http://schemas.microsoft.com/office/drawing/2014/main" id="{CD686020-F09C-A55D-E53A-C382B39D95C4}"/>
              </a:ext>
            </a:extLst>
          </p:cNvPr>
          <p:cNvSpPr txBox="1"/>
          <p:nvPr/>
        </p:nvSpPr>
        <p:spPr>
          <a:xfrm>
            <a:off x="351691" y="1280255"/>
            <a:ext cx="8187625" cy="2246769"/>
          </a:xfrm>
          <a:prstGeom prst="rect">
            <a:avLst/>
          </a:prstGeom>
          <a:noFill/>
        </p:spPr>
        <p:txBody>
          <a:bodyPr wrap="square">
            <a:spAutoFit/>
          </a:bodyPr>
          <a:lstStyle/>
          <a:p>
            <a:pPr marL="285750" indent="-285750">
              <a:buFont typeface="Arial" panose="020B0604020202020204" pitchFamily="34" charset="0"/>
              <a:buChar char="•"/>
            </a:pPr>
            <a:r>
              <a:rPr lang="en-US" sz="2800" b="1" dirty="0"/>
              <a:t>Display</a:t>
            </a:r>
          </a:p>
          <a:p>
            <a:pPr marL="285750" indent="-285750">
              <a:buFont typeface="Arial" panose="020B0604020202020204" pitchFamily="34" charset="0"/>
              <a:buChar char="•"/>
            </a:pPr>
            <a:r>
              <a:rPr lang="en-US" sz="2800" b="1" dirty="0"/>
              <a:t>Max Width</a:t>
            </a:r>
          </a:p>
          <a:p>
            <a:pPr marL="285750" indent="-285750">
              <a:buFont typeface="Arial" panose="020B0604020202020204" pitchFamily="34" charset="0"/>
              <a:buChar char="•"/>
            </a:pPr>
            <a:r>
              <a:rPr lang="en-US" sz="2800" b="1" dirty="0"/>
              <a:t>z-index</a:t>
            </a:r>
          </a:p>
          <a:p>
            <a:pPr marL="285750" indent="-285750">
              <a:buFont typeface="Arial" panose="020B0604020202020204" pitchFamily="34" charset="0"/>
              <a:buChar char="•"/>
            </a:pPr>
            <a:r>
              <a:rPr lang="en-US" sz="2800" b="1" dirty="0"/>
              <a:t>Overflow</a:t>
            </a:r>
          </a:p>
          <a:p>
            <a:pPr marL="285750" indent="-285750">
              <a:buFont typeface="Arial" panose="020B0604020202020204" pitchFamily="34" charset="0"/>
              <a:buChar char="•"/>
            </a:pPr>
            <a:r>
              <a:rPr lang="en-US" sz="2800" b="1" dirty="0"/>
              <a:t>Inline Block</a:t>
            </a:r>
          </a:p>
        </p:txBody>
      </p:sp>
    </p:spTree>
    <p:extLst>
      <p:ext uri="{BB962C8B-B14F-4D97-AF65-F5344CB8AC3E}">
        <p14:creationId xmlns:p14="http://schemas.microsoft.com/office/powerpoint/2010/main" val="911769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en-FI"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7" ma:contentTypeDescription="Create a new document." ma:contentTypeScope="" ma:versionID="83778c5113f2ac73ed960537e13eab52">
  <xsd:schema xmlns:xsd="http://www.w3.org/2001/XMLSchema" xmlns:xs="http://www.w3.org/2001/XMLSchema" xmlns:p="http://schemas.microsoft.com/office/2006/metadata/properties" xmlns:ns2="e89bd651-a027-450b-961b-5fe5ec8507fb" targetNamespace="http://schemas.microsoft.com/office/2006/metadata/properties" ma:root="true" ma:fieldsID="97bf77adaf3e1d07a0d4e04d28f981fb" ns2:_="">
    <xsd:import namespace="e89bd651-a027-450b-961b-5fe5ec8507f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bd651-a027-450b-961b-5fe5ec8507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B5B53B-D185-4AD7-986B-90B2BFE8FC39}"/>
</file>

<file path=customXml/itemProps2.xml><?xml version="1.0" encoding="utf-8"?>
<ds:datastoreItem xmlns:ds="http://schemas.openxmlformats.org/officeDocument/2006/customXml" ds:itemID="{ADD93DB7-5352-4A54-954C-2CC4E0F74933}"/>
</file>

<file path=customXml/itemProps3.xml><?xml version="1.0" encoding="utf-8"?>
<ds:datastoreItem xmlns:ds="http://schemas.openxmlformats.org/officeDocument/2006/customXml" ds:itemID="{77AA758A-6572-43A1-B58E-4417DCC2CB23}"/>
</file>

<file path=docProps/app.xml><?xml version="1.0" encoding="utf-8"?>
<Properties xmlns="http://schemas.openxmlformats.org/officeDocument/2006/extended-properties" xmlns:vt="http://schemas.openxmlformats.org/officeDocument/2006/docPropsVTypes">
  <Template>Spectrum.thmx</Template>
  <TotalTime>4923</TotalTime>
  <Words>2684</Words>
  <Application>Microsoft Office PowerPoint</Application>
  <PresentationFormat>On-screen Show (4:3)</PresentationFormat>
  <Paragraphs>351</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Sazzad Hossain</cp:lastModifiedBy>
  <cp:revision>344</cp:revision>
  <dcterms:created xsi:type="dcterms:W3CDTF">2018-12-10T17:20:29Z</dcterms:created>
  <dcterms:modified xsi:type="dcterms:W3CDTF">2026-06-26T06:08:02Z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